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1005840"/>
            <a:ext cx="4206240" cy="4206240"/>
          </a:xfrm>
          <a:prstGeom prst="ellipse">
            <a:avLst/>
          </a:prstGeom>
          <a:solidFill>
            <a:srgbClr val="0E8A82">
              <a:alpha val="20000"/>
            </a:srgbClr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-457200"/>
            <a:ext cx="3108960" cy="3108960"/>
          </a:xfrm>
          <a:prstGeom prst="ellipse">
            <a:avLst/>
          </a:prstGeom>
          <a:solidFill>
            <a:srgbClr val="E8A33D">
              <a:alpha val="16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Tumor Classification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Deep Learning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Results, Evaluation &amp; Live Deployment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1188720" cy="3657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79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 •  Medical-Grade F2 Evaluation  •  Streamlit App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Set Out to Solve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tumors require early, accurate diagnosis — but manual MRI review is slow and prone to error, especially under high diagnostic workloads. The objective: build a deep learning classifier that sorts an MRI scan into one of four categories, fast and reliably.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880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560320" y="28803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2880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880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66560" y="28803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2880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Four-way classification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4892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77056" cy="310896"/>
          </a:xfrm>
          <a:prstGeom prst="roundRect">
            <a:avLst>
              <a:gd name="adj" fmla="val 50000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Proposal to Delivered Solution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27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16276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0" y="16276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1168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Approach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63240" y="20116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compared against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/ ResNet50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0" y="20116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only — ResNet50 tested,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underperformed at 60–70% accuracy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8229600" cy="566928"/>
          </a:xfrm>
          <a:prstGeom prst="rect">
            <a:avLst/>
          </a:prstGeom>
          <a:solidFill>
            <a:srgbClr val="E3F3F1"/>
          </a:solidFill>
          <a:ln w="6350">
            <a:solidFill>
              <a:srgbClr val="D5D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78608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63240" y="25786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pixel rescale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0" y="25786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Z-score normalisation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(per-class pixel analysis)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145536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145536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63240" y="31455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Precision / Recall / F1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0" y="31455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F2-Score — recall weighted 4×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medical safety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712464"/>
            <a:ext cx="8229600" cy="566928"/>
          </a:xfrm>
          <a:prstGeom prst="rect">
            <a:avLst/>
          </a:prstGeom>
          <a:solidFill>
            <a:srgbClr val="E3F3F1"/>
          </a:solidFill>
          <a:ln w="6350">
            <a:solidFill>
              <a:srgbClr val="D5DE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712464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Safety Net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63240" y="37124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specified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0" y="37124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Confidence-threshold tuning (0.95)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No-Tumor predictions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279392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279392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63240" y="42793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+ reports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0" y="42793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web application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732520" y="4892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072384" cy="310896"/>
          </a:xfrm>
          <a:prstGeom prst="roundRect">
            <a:avLst>
              <a:gd name="adj" fmla="val 50000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Duplicate Cleaning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6362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8,745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MRI Images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50876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56362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246120" y="2121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50876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56362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7,635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035040" y="2121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Dataset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670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content-hashing identified 1,031 duplicate groups — including cross-class duplicates that would have taught the model contradictory labels.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1737360" cy="731520"/>
          </a:xfrm>
          <a:prstGeom prst="rect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29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0" y="3709283"/>
            <a:ext cx="1737360" cy="725557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434963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4480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4203959"/>
            <a:ext cx="1737360" cy="230881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92963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4480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4301750"/>
            <a:ext cx="1737360" cy="13309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402743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4480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32520" y="4892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072384" cy="310896"/>
          </a:xfrm>
          <a:prstGeom prst="roundRect">
            <a:avLst>
              <a:gd name="adj" fmla="val 50000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Normalisation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 blind 1/255 rescale, pixel intensities were sampled across 200 images per class to measure each class's true brightness profile — then used to compute dataset-wide normalisation statistics.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4231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FD6C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normalised = 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(image / 255 </a:t>
            </a:r>
            <a:pPr algn="ctr"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</a:t>
            </a:r>
            <a:pPr algn="ctr" indent="0" marL="0">
              <a:buNone/>
            </a:pPr>
            <a:r>
              <a:rPr lang="en-US" sz="2100" b="1" i="1" dirty="0">
                <a:solidFill>
                  <a:srgbClr val="E8A3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μ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/ </a:t>
            </a:r>
            <a:pPr algn="ctr" indent="0" marL="0">
              <a:buNone/>
            </a:pPr>
            <a:r>
              <a:rPr lang="en-US" sz="2100" b="1" i="1" dirty="0">
                <a:solidFill>
                  <a:srgbClr val="E8A3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657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μ, σ computed from 800 sampled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pixels (global mean &amp; std per channel)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3703320"/>
            <a:ext cx="502920" cy="502920"/>
          </a:xfrm>
          <a:prstGeom prst="ellipse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3657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the data — output sits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0 with unit variance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3703320"/>
            <a:ext cx="502920" cy="502920"/>
          </a:xfrm>
          <a:prstGeom prst="ellipse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3657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standard practice used by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 models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732520" y="4892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871216" cy="310896"/>
          </a:xfrm>
          <a:prstGeom prst="roundRect">
            <a:avLst>
              <a:gd name="adj" fmla="val 50000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CNN — Built From Scratch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591056" cy="1417320"/>
          </a:xfrm>
          <a:prstGeom prst="roundRect">
            <a:avLst>
              <a:gd name="adj" fmla="val 4516"/>
            </a:avLst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8308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214884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029968" y="22174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39696" y="1691640"/>
            <a:ext cx="1591056" cy="1417320"/>
          </a:xfrm>
          <a:prstGeom prst="roundRect">
            <a:avLst>
              <a:gd name="adj" fmla="val 4516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39696" y="178308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12848" y="214884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32 → BN →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32 → Pool → Drop 0.25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712464" y="22174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22192" y="1691640"/>
            <a:ext cx="1591056" cy="1417320"/>
          </a:xfrm>
          <a:prstGeom prst="roundRect">
            <a:avLst>
              <a:gd name="adj" fmla="val 4516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22192" y="178308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95344" y="214884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64 → BN →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64 → Pool → Drop 0.25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94960" y="22174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04688" y="1691640"/>
            <a:ext cx="1591056" cy="1417320"/>
          </a:xfrm>
          <a:prstGeom prst="roundRect">
            <a:avLst>
              <a:gd name="adj" fmla="val 4516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04688" y="178308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214884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128 → BN →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128 → Pool → Drop 0.40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77456" y="22174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87184" y="1691640"/>
            <a:ext cx="1591056" cy="1417320"/>
          </a:xfrm>
          <a:prstGeom prst="roundRect">
            <a:avLst>
              <a:gd name="adj" fmla="val 4516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87184" y="178308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0336" y="214884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→ Dense 256 →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0.50 → Dense 4 (softmax)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~249,000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4612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4612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Blocks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3504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03504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Flatten — fewer params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732520" y="4892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066544" cy="310896"/>
          </a:xfrm>
          <a:prstGeom prst="roundRect">
            <a:avLst>
              <a:gd name="adj" fmla="val 50000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Strategy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82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±20°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/ height shift 15%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96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15%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889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±15%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72768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682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&amp; BALANCE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(patience 10)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596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(factor 0.5)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889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ModelCheckpoint (best only)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4279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Run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0" y="4279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 Restored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93.25%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943600" y="4279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Val. Accuracy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732520" y="4892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681728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681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PHILOSOPHY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F2-Score for a Medical Model?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1304A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276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pPr algn="ctr"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(1+β²) × (Precision × Recall) / (β²×Precision + Recall)      </a:t>
            </a:r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 = 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15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358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5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says “No Tumor” —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5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left untreated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260604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 w="19050">
            <a:solidFill>
              <a:srgbClr val="0E8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715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30358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5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over-flags a healthy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5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— one extra confirmatory scan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8587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DC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weighted 4× over precision, plus a 0.95 confidence threshold on “No Tumor” — the model only stays silent when very sure.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732520" y="4892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556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93.31%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627632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7556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93.29%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4612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F2-Score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627632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7556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03504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No-Tumor Threshold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1,525 held-out MRI scans, never seen during training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18288"/>
          </a:xfrm>
          <a:prstGeom prst="rect">
            <a:avLst/>
          </a:prstGeom>
          <a:solidFill>
            <a:srgbClr val="D5DEE3"/>
          </a:solidFill>
          <a:ln w="12700">
            <a:solidFill>
              <a:srgbClr val="D5DE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(argmax): </a:t>
            </a:r>
            <a:pPr algn="ctr"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93.25% accuracy, 93.22% F2   </a:t>
            </a:r>
            <a:pPr algn="ctr"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After threshold tuning: </a:t>
            </a:r>
            <a:pPr algn="ctr" indent="0" marL="0">
              <a:buNone/>
            </a:pPr>
            <a:r>
              <a:rPr lang="en-US" sz="11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93.31% / 93.29%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32520" y="4892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Per-Class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7955280" cy="411480"/>
          </a:xfrm>
          <a:prstGeom prst="roundRect">
            <a:avLst>
              <a:gd name="adj" fmla="val 1111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1752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F2-Score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7955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57400"/>
            <a:ext cx="73152" cy="566928"/>
          </a:xfrm>
          <a:prstGeom prst="rect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574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0574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20574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93.74%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24328"/>
            <a:ext cx="7955280" cy="566928"/>
          </a:xfrm>
          <a:prstGeom prst="rect">
            <a:avLst/>
          </a:prstGeom>
          <a:solidFill>
            <a:srgbClr val="E3F3F1"/>
          </a:solidFill>
          <a:ln w="6350">
            <a:solidFill>
              <a:srgbClr val="D5D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24328"/>
            <a:ext cx="73152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243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6243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6243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26243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91.23%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91256"/>
            <a:ext cx="7955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91256"/>
            <a:ext cx="73152" cy="566928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912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31912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1912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31912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97.12%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758184"/>
            <a:ext cx="7955280" cy="566928"/>
          </a:xfrm>
          <a:prstGeom prst="rect">
            <a:avLst/>
          </a:prstGeom>
          <a:solidFill>
            <a:srgbClr val="E3F3F1"/>
          </a:solidFill>
          <a:ln w="6350">
            <a:solidFill>
              <a:srgbClr val="D5D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58184"/>
            <a:ext cx="73152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581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17520" y="37581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7581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37581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96.19%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4622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Pituitary: near-perfect recall (99%) — the class-weighting trade-off rarely misses a real case.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732520" y="4892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Streamlit Application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0E8A82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856232"/>
            <a:ext cx="457200" cy="457200"/>
          </a:xfrm>
          <a:prstGeom prst="ellipse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048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157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scan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(jpg / png)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237744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32888" y="169164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0E8A82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856232"/>
            <a:ext cx="457200" cy="457200"/>
          </a:xfrm>
          <a:prstGeom prst="ellipse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24328" y="24048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24328" y="27157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 + z-score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— same as training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61688" y="237744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08576" y="169164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0E8A82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94376" y="1856232"/>
            <a:ext cx="457200" cy="457200"/>
          </a:xfrm>
          <a:prstGeom prst="ellipse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4376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00016" y="24048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0016" y="27157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outputs class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37376" y="237744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84264" y="169164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0E8A82"/>
            </a:solidFill>
            <a:prstDash val="solid"/>
          </a:ln>
          <a:effectLst>
            <a:outerShdw sx="100000" sy="100000" kx="0" ky="0" algn="bl" rotWithShape="0" blurRad="114300" dist="38100" dir="8100000">
              <a:srgbClr val="0A1628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70064" y="1856232"/>
            <a:ext cx="457200" cy="457200"/>
          </a:xfrm>
          <a:prstGeom prst="ellipse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0064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75704" y="24048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Card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75704" y="27157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logic → class,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 clinical note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matched config files ship together: </a:t>
            </a:r>
            <a:pPr indent="0" marL="0">
              <a:buNone/>
            </a:pPr>
            <a:r>
              <a:rPr lang="en-US" sz="110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cnn_final.keras · class_indices.json · norm_params.json · config.json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cached on first load (@st.cache_resource) — instant predictions on every subsequent upload.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732520" y="4892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8828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Didn't Work — and Why That Mattered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112240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10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transfer learning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2194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only 60–70% accuracy on this dataset — a smaller, purpose-built CNN won out.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112240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810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explainability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19472" y="2194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Descoped after Keras 3 compatibility issues — prioritised a fully explainable pipeline over added complexity.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112240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364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on real-world scans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" y="3749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Out-of-dataset images needed stronger augmentation and the threshold safety-net to stay reliable.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24612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112240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3364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daily GPU access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19472" y="3749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with Drive checkpointing — training resumed across sessions with zero progress lost.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32520" y="4892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2377440"/>
            <a:ext cx="3657600" cy="3657600"/>
          </a:xfrm>
          <a:prstGeom prst="ellipse">
            <a:avLst/>
          </a:prstGeom>
          <a:solidFill>
            <a:srgbClr val="0E8A82">
              <a:alpha val="18000"/>
            </a:srgbClr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822960"/>
            <a:ext cx="3108960" cy="3108960"/>
          </a:xfrm>
          <a:prstGeom prst="ellipse">
            <a:avLst/>
          </a:prstGeom>
          <a:solidFill>
            <a:srgbClr val="E8A33D">
              <a:alpha val="15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Deployed, Medically-Reasoned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5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4-model proposal to a single, well-understood CNN — cleaned data, principled normalisation, recall-weighted evaluation, and a live Streamlit app. Every simplification was a deliberate, evidence-based choice, not a shortcut.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DC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train / validation / test split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98678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DC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 for robustness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159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DC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External-dataset generalisation testing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Classification Using Deep Learning  •  Final Presentation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Tumor Classification — Final Presentation</dc:title>
  <dc:subject>PptxGenJS Presentation</dc:subject>
  <dc:creator>PptxGenJS</dc:creator>
  <cp:lastModifiedBy>PptxGenJS</cp:lastModifiedBy>
  <cp:revision>1</cp:revision>
  <dcterms:created xsi:type="dcterms:W3CDTF">2026-06-21T04:19:35Z</dcterms:created>
  <dcterms:modified xsi:type="dcterms:W3CDTF">2026-06-21T04:19:35Z</dcterms:modified>
</cp:coreProperties>
</file>